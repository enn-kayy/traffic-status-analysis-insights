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94660"/>
  </p:normalViewPr>
  <p:slideViewPr>
    <p:cSldViewPr snapToGrid="0">
      <p:cViewPr varScale="1">
        <p:scale>
          <a:sx n="43" d="100"/>
          <a:sy n="43" d="100"/>
        </p:scale>
        <p:origin x="76"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A272-9675-CDCD-F8D2-37F228707E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EC5CA3-AAE5-2556-7603-FF7C750CFF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0A8A20-F680-1C9D-6C54-FB5B92B81D5B}"/>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C142896F-4EDE-05B0-7FEB-6A0C3AF60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D4A786-9B2B-4D25-A541-768A75B450F1}"/>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435893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00E31-49F1-D934-3260-93244996F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A01104-8C97-471C-E5BC-5F5E7FB405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9502FE-381D-F005-1070-2DE90F7E39E8}"/>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5CC2285D-1DF9-3040-A762-B7A8B6E771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2EFE7-05D3-6B4A-2A6D-77684A3E00E3}"/>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372766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9C9A-C223-BCDC-0700-2907B95A87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45A728-4347-A65F-6B21-A4ACC6250C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21F521-B06A-A226-E32D-2E7D7C93DF89}"/>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173AE50D-67E4-C773-D40D-33BE96C7D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FDBFDB-C791-00BF-96A6-92DC5C2E78A8}"/>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1862006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DE8A4-D43E-A990-5CA3-5128F7855B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0FA8DF-DCCE-B9D1-0ED8-F60D6893B7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62A63D-78BC-2A01-2FEC-5CC0248E8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7A27EC-D270-122D-927D-22CDAD887C1C}"/>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6" name="Footer Placeholder 5">
            <a:extLst>
              <a:ext uri="{FF2B5EF4-FFF2-40B4-BE49-F238E27FC236}">
                <a16:creationId xmlns:a16="http://schemas.microsoft.com/office/drawing/2014/main" id="{0A61641E-8421-6BB3-0322-B6EE35104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AF596-9C92-6684-51D0-B281B079FB3D}"/>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85396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3445-83FB-EBDD-84EE-373C8A7AA1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897F56-D10D-112D-E19E-C686855C0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580A9B-6305-3244-1F1E-9BF58C6275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1EACBC-8940-22D2-9FCC-41B236FE96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B0C5D-DC76-C60F-A099-AD44DBA442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8947AD-CB55-9D56-CB97-3E2CD0C757F3}"/>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8" name="Footer Placeholder 7">
            <a:extLst>
              <a:ext uri="{FF2B5EF4-FFF2-40B4-BE49-F238E27FC236}">
                <a16:creationId xmlns:a16="http://schemas.microsoft.com/office/drawing/2014/main" id="{1D1CF7B6-3060-0B65-D6CE-0B371ECCF9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BA5F39-D6F9-B91B-F82D-A454C684D6C1}"/>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268672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FA11-0369-0AC1-5934-2BC9C9D8BA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DF5AE-7CAA-629C-EAEA-A44DC4DE0391}"/>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4" name="Footer Placeholder 3">
            <a:extLst>
              <a:ext uri="{FF2B5EF4-FFF2-40B4-BE49-F238E27FC236}">
                <a16:creationId xmlns:a16="http://schemas.microsoft.com/office/drawing/2014/main" id="{05FD835C-80C9-E7C3-1C42-DE1B4E19B2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E54DFC-BCD6-1077-11FD-A6450565E170}"/>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158435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1BC479-F89C-0BCE-6574-B243F3EC6827}"/>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3" name="Footer Placeholder 2">
            <a:extLst>
              <a:ext uri="{FF2B5EF4-FFF2-40B4-BE49-F238E27FC236}">
                <a16:creationId xmlns:a16="http://schemas.microsoft.com/office/drawing/2014/main" id="{A02090BC-1880-46EA-5964-1F2198A2E0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48F32C-E13D-622A-3ABA-93F8EEC0325E}"/>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3099739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8D73-F295-2688-07F8-E16C049870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1F8C8A-4618-8551-AECE-32E8352363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91675C-6D6E-1DD1-21F6-1E44F1D54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EC756-7CFB-0344-578E-335805BCD17C}"/>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6" name="Footer Placeholder 5">
            <a:extLst>
              <a:ext uri="{FF2B5EF4-FFF2-40B4-BE49-F238E27FC236}">
                <a16:creationId xmlns:a16="http://schemas.microsoft.com/office/drawing/2014/main" id="{829875C0-F9C7-8132-B392-6BAD41585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DE89D7-4465-D301-5937-6F5275DA9B53}"/>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636668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8D2A-F58D-73B4-8549-7CA7DABE06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357D6E-64B2-20C0-89B5-E015778C44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4EDD0D-D438-137A-07ED-34DC280650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F7289-ABE8-92D9-E2E8-3EC60643DC3C}"/>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6" name="Footer Placeholder 5">
            <a:extLst>
              <a:ext uri="{FF2B5EF4-FFF2-40B4-BE49-F238E27FC236}">
                <a16:creationId xmlns:a16="http://schemas.microsoft.com/office/drawing/2014/main" id="{DA277BF2-0DEB-50B1-9BCC-E3F9C5FC8C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103817-A47C-7027-EEDF-2BC238C13549}"/>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633348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8CB77-CA04-13F5-41EC-F9D93EF8B3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1D2D9F-C90C-93DF-1E7C-4A8D01ABA2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4CB7A-230A-FBE1-1554-A2A90ADAD074}"/>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C1B70347-C290-2705-9F52-A136E7378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9CBE1-5B38-7C1E-D71A-488BD7D1CB8D}"/>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535912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2BFE56-A343-FC79-8784-77346D6109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6D1FA4-2E7D-3E5B-16E4-8C7CB81772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4946FC-79DA-103E-E8B3-E385A69B76D3}"/>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79F8D39D-0019-50CB-2CFA-6371AD6AD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6073F-9FC8-0014-0AE9-127F94E1B635}"/>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1951429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C47283-6432-7146-AB85-03B83C9A57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D990DE-9862-9EBA-100C-A8633F5D16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82032-114B-F21F-9581-C127108877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F2BF8AE9-F1D2-9F2F-C817-37C98D3977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875E5D-5692-06EA-C02D-0875770136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E6BDFB-C34D-4D4C-BCE3-49F17D7A9A10}" type="slidenum">
              <a:rPr lang="en-US" smtClean="0"/>
              <a:t>‹#›</a:t>
            </a:fld>
            <a:endParaRPr lang="en-US"/>
          </a:p>
        </p:txBody>
      </p:sp>
    </p:spTree>
    <p:extLst>
      <p:ext uri="{BB962C8B-B14F-4D97-AF65-F5344CB8AC3E}">
        <p14:creationId xmlns:p14="http://schemas.microsoft.com/office/powerpoint/2010/main" val="3243449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0212-3AD8-060E-FD92-23E1EB70C946}"/>
              </a:ext>
            </a:extLst>
          </p:cNvPr>
          <p:cNvSpPr>
            <a:spLocks noGrp="1"/>
          </p:cNvSpPr>
          <p:nvPr>
            <p:ph type="ctrTitle"/>
          </p:nvPr>
        </p:nvSpPr>
        <p:spPr/>
        <p:txBody>
          <a:bodyPr/>
          <a:lstStyle/>
          <a:p>
            <a:r>
              <a:rPr lang="en-US" b="1" dirty="0"/>
              <a:t>Traffic Status and Insights</a:t>
            </a:r>
          </a:p>
        </p:txBody>
      </p:sp>
      <p:sp>
        <p:nvSpPr>
          <p:cNvPr id="3" name="Subtitle 2">
            <a:extLst>
              <a:ext uri="{FF2B5EF4-FFF2-40B4-BE49-F238E27FC236}">
                <a16:creationId xmlns:a16="http://schemas.microsoft.com/office/drawing/2014/main" id="{6F2D3E77-9B1C-B691-B389-BE491E9A91CA}"/>
              </a:ext>
            </a:extLst>
          </p:cNvPr>
          <p:cNvSpPr>
            <a:spLocks noGrp="1"/>
          </p:cNvSpPr>
          <p:nvPr>
            <p:ph type="subTitle" idx="1"/>
          </p:nvPr>
        </p:nvSpPr>
        <p:spPr/>
        <p:txBody>
          <a:bodyPr anchor="b"/>
          <a:lstStyle/>
          <a:p>
            <a:pPr algn="r"/>
            <a:r>
              <a:rPr lang="en-US" dirty="0"/>
              <a:t>Submitted by: Naman Kapoor</a:t>
            </a:r>
          </a:p>
        </p:txBody>
      </p:sp>
    </p:spTree>
    <p:extLst>
      <p:ext uri="{BB962C8B-B14F-4D97-AF65-F5344CB8AC3E}">
        <p14:creationId xmlns:p14="http://schemas.microsoft.com/office/powerpoint/2010/main" val="1223546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CB43-2C16-95CD-ED63-B16EE398B0FC}"/>
              </a:ext>
            </a:extLst>
          </p:cNvPr>
          <p:cNvSpPr>
            <a:spLocks noGrp="1"/>
          </p:cNvSpPr>
          <p:nvPr>
            <p:ph type="title"/>
          </p:nvPr>
        </p:nvSpPr>
        <p:spPr/>
        <p:txBody>
          <a:bodyPr/>
          <a:lstStyle/>
          <a:p>
            <a:r>
              <a:rPr lang="en-US" b="1" dirty="0"/>
              <a:t>Problem Statement</a:t>
            </a:r>
          </a:p>
        </p:txBody>
      </p:sp>
      <p:sp>
        <p:nvSpPr>
          <p:cNvPr id="3" name="Content Placeholder 2">
            <a:extLst>
              <a:ext uri="{FF2B5EF4-FFF2-40B4-BE49-F238E27FC236}">
                <a16:creationId xmlns:a16="http://schemas.microsoft.com/office/drawing/2014/main" id="{CE5D6172-A8B4-860C-9478-495D44FFBB64}"/>
              </a:ext>
            </a:extLst>
          </p:cNvPr>
          <p:cNvSpPr>
            <a:spLocks noGrp="1"/>
          </p:cNvSpPr>
          <p:nvPr>
            <p:ph idx="1"/>
          </p:nvPr>
        </p:nvSpPr>
        <p:spPr/>
        <p:txBody>
          <a:bodyPr/>
          <a:lstStyle/>
          <a:p>
            <a:pPr marL="0" indent="0">
              <a:buNone/>
            </a:pPr>
            <a:r>
              <a:rPr lang="en-US" dirty="0"/>
              <a:t>The organization deals with large volumes of website traffic data distributed across multiple tables and years. Analyzing this data manually to understand year-over-year growth, monthly trends, and overall performance is time-consuming and prone to errors. Existing reports primarily present raw numbers, which makes it difficult for management to quickly identify growth direction, performance health, and actionable insights. Additionally, limited access to GA4 APIs restricts real-time data extraction, further increasing dependency on manual data handling.</a:t>
            </a:r>
          </a:p>
        </p:txBody>
      </p:sp>
    </p:spTree>
    <p:extLst>
      <p:ext uri="{BB962C8B-B14F-4D97-AF65-F5344CB8AC3E}">
        <p14:creationId xmlns:p14="http://schemas.microsoft.com/office/powerpoint/2010/main" val="1948796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F3C7-CE4E-5699-B8E1-671AD37A7170}"/>
              </a:ext>
            </a:extLst>
          </p:cNvPr>
          <p:cNvSpPr>
            <a:spLocks noGrp="1"/>
          </p:cNvSpPr>
          <p:nvPr>
            <p:ph type="title"/>
          </p:nvPr>
        </p:nvSpPr>
        <p:spPr/>
        <p:txBody>
          <a:bodyPr/>
          <a:lstStyle/>
          <a:p>
            <a:r>
              <a:rPr lang="en-US" b="1" dirty="0"/>
              <a:t>Proposed Solutions</a:t>
            </a:r>
          </a:p>
        </p:txBody>
      </p:sp>
      <p:sp>
        <p:nvSpPr>
          <p:cNvPr id="3" name="Content Placeholder 2">
            <a:extLst>
              <a:ext uri="{FF2B5EF4-FFF2-40B4-BE49-F238E27FC236}">
                <a16:creationId xmlns:a16="http://schemas.microsoft.com/office/drawing/2014/main" id="{0B73B412-D23F-5570-292E-3B4D73EA3C56}"/>
              </a:ext>
            </a:extLst>
          </p:cNvPr>
          <p:cNvSpPr>
            <a:spLocks noGrp="1"/>
          </p:cNvSpPr>
          <p:nvPr>
            <p:ph idx="1"/>
          </p:nvPr>
        </p:nvSpPr>
        <p:spPr/>
        <p:txBody>
          <a:bodyPr/>
          <a:lstStyle/>
          <a:p>
            <a:r>
              <a:rPr lang="en-US" dirty="0"/>
              <a:t>Build an automated traffic analysis pipeline that:</a:t>
            </a:r>
          </a:p>
          <a:p>
            <a:pPr marL="514350" indent="-514350">
              <a:buFont typeface="+mj-lt"/>
              <a:buAutoNum type="arabicPeriod"/>
            </a:pPr>
            <a:r>
              <a:rPr lang="en-US" dirty="0"/>
              <a:t>Processes historical traffic data.</a:t>
            </a:r>
          </a:p>
          <a:p>
            <a:pPr marL="514350" indent="-514350">
              <a:buFont typeface="+mj-lt"/>
              <a:buAutoNum type="arabicPeriod"/>
            </a:pPr>
            <a:r>
              <a:rPr lang="en-US" dirty="0"/>
              <a:t>Calculates key metrics (YOY, LM, Total)</a:t>
            </a:r>
          </a:p>
          <a:p>
            <a:pPr marL="514350" indent="-514350">
              <a:buFont typeface="+mj-lt"/>
              <a:buAutoNum type="arabicPeriod"/>
            </a:pPr>
            <a:r>
              <a:rPr lang="en-US" dirty="0"/>
              <a:t>Generates management-level insights</a:t>
            </a:r>
          </a:p>
          <a:p>
            <a:r>
              <a:rPr lang="en-US" dirty="0"/>
              <a:t>Deliver output through: </a:t>
            </a:r>
          </a:p>
          <a:p>
            <a:pPr marL="514350" indent="-514350">
              <a:buFont typeface="+mj-lt"/>
              <a:buAutoNum type="arabicPeriod"/>
            </a:pPr>
            <a:r>
              <a:rPr lang="en-US" dirty="0"/>
              <a:t>A formatted Excel report for sharing</a:t>
            </a:r>
          </a:p>
          <a:p>
            <a:pPr marL="514350" indent="-514350">
              <a:buFont typeface="+mj-lt"/>
              <a:buAutoNum type="arabicPeriod"/>
            </a:pPr>
            <a:r>
              <a:rPr lang="en-US" dirty="0"/>
              <a:t>An interactive dashboard for quick exploration</a:t>
            </a:r>
          </a:p>
          <a:p>
            <a:r>
              <a:rPr lang="en-US" dirty="0"/>
              <a:t>Use an agent-based architecture for scalability and clarity.</a:t>
            </a:r>
          </a:p>
          <a:p>
            <a:pPr marL="0" indent="0">
              <a:buNone/>
            </a:pPr>
            <a:endParaRPr lang="en-US" dirty="0"/>
          </a:p>
        </p:txBody>
      </p:sp>
    </p:spTree>
    <p:extLst>
      <p:ext uri="{BB962C8B-B14F-4D97-AF65-F5344CB8AC3E}">
        <p14:creationId xmlns:p14="http://schemas.microsoft.com/office/powerpoint/2010/main" val="2123409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B13A6-3D3A-5114-496F-16B13CB21F93}"/>
              </a:ext>
            </a:extLst>
          </p:cNvPr>
          <p:cNvSpPr>
            <a:spLocks noGrp="1"/>
          </p:cNvSpPr>
          <p:nvPr>
            <p:ph type="title"/>
          </p:nvPr>
        </p:nvSpPr>
        <p:spPr/>
        <p:txBody>
          <a:bodyPr/>
          <a:lstStyle/>
          <a:p>
            <a:r>
              <a:rPr lang="en-US" b="1" dirty="0"/>
              <a:t>System Architecture</a:t>
            </a:r>
          </a:p>
        </p:txBody>
      </p:sp>
      <p:sp>
        <p:nvSpPr>
          <p:cNvPr id="3" name="Content Placeholder 2">
            <a:extLst>
              <a:ext uri="{FF2B5EF4-FFF2-40B4-BE49-F238E27FC236}">
                <a16:creationId xmlns:a16="http://schemas.microsoft.com/office/drawing/2014/main" id="{39CBFAA2-7C7C-0F25-8A13-EB7212BDE28F}"/>
              </a:ext>
            </a:extLst>
          </p:cNvPr>
          <p:cNvSpPr>
            <a:spLocks noGrp="1"/>
          </p:cNvSpPr>
          <p:nvPr>
            <p:ph idx="1"/>
          </p:nvPr>
        </p:nvSpPr>
        <p:spPr>
          <a:xfrm>
            <a:off x="613347" y="2422258"/>
            <a:ext cx="5482653" cy="4351338"/>
          </a:xfrm>
        </p:spPr>
        <p:txBody>
          <a:bodyPr/>
          <a:lstStyle/>
          <a:p>
            <a:pPr marL="514350" indent="-514350">
              <a:buFont typeface="+mj-lt"/>
              <a:buAutoNum type="arabicPeriod"/>
            </a:pPr>
            <a:r>
              <a:rPr lang="en-US" b="1" dirty="0"/>
              <a:t>Agent Responsibilities</a:t>
            </a:r>
          </a:p>
          <a:p>
            <a:r>
              <a:rPr lang="en-US" b="1" dirty="0"/>
              <a:t>Input Agent: </a:t>
            </a:r>
            <a:r>
              <a:rPr lang="en-US" dirty="0"/>
              <a:t>Reads and Validates traffic data.</a:t>
            </a:r>
            <a:endParaRPr lang="en-US" b="1" dirty="0"/>
          </a:p>
          <a:p>
            <a:r>
              <a:rPr lang="en-US" b="1" dirty="0"/>
              <a:t>Metrics Agent: </a:t>
            </a:r>
            <a:r>
              <a:rPr lang="en-US" dirty="0"/>
              <a:t>Calculates YoY, MoM, totals</a:t>
            </a:r>
            <a:endParaRPr lang="en-US" b="1" dirty="0"/>
          </a:p>
          <a:p>
            <a:r>
              <a:rPr lang="en-US" b="1" dirty="0"/>
              <a:t>Insight Agent: </a:t>
            </a:r>
            <a:r>
              <a:rPr lang="en-US" dirty="0"/>
              <a:t>Interprets overall growth trends.</a:t>
            </a:r>
            <a:endParaRPr lang="en-US" b="1" dirty="0"/>
          </a:p>
          <a:p>
            <a:r>
              <a:rPr lang="en-US" b="1" dirty="0"/>
              <a:t>Output Agent: </a:t>
            </a:r>
            <a:r>
              <a:rPr lang="en-US" dirty="0"/>
              <a:t>Generates Excel report and charts.</a:t>
            </a:r>
            <a:endParaRPr lang="en-US" b="1" dirty="0"/>
          </a:p>
        </p:txBody>
      </p:sp>
      <p:sp>
        <p:nvSpPr>
          <p:cNvPr id="6" name="TextBox 5">
            <a:extLst>
              <a:ext uri="{FF2B5EF4-FFF2-40B4-BE49-F238E27FC236}">
                <a16:creationId xmlns:a16="http://schemas.microsoft.com/office/drawing/2014/main" id="{A90DB82B-7F4E-1274-C534-C3DC53DCB850}"/>
              </a:ext>
            </a:extLst>
          </p:cNvPr>
          <p:cNvSpPr txBox="1"/>
          <p:nvPr/>
        </p:nvSpPr>
        <p:spPr>
          <a:xfrm>
            <a:off x="613347" y="1367522"/>
            <a:ext cx="990601"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Input</a:t>
            </a:r>
          </a:p>
          <a:p>
            <a:r>
              <a:rPr lang="en-US" sz="2600" dirty="0"/>
              <a:t>Agent</a:t>
            </a:r>
          </a:p>
        </p:txBody>
      </p:sp>
      <p:sp>
        <p:nvSpPr>
          <p:cNvPr id="7" name="TextBox 6">
            <a:extLst>
              <a:ext uri="{FF2B5EF4-FFF2-40B4-BE49-F238E27FC236}">
                <a16:creationId xmlns:a16="http://schemas.microsoft.com/office/drawing/2014/main" id="{5AD05D18-8E08-2F93-9735-BB5D195F5E50}"/>
              </a:ext>
            </a:extLst>
          </p:cNvPr>
          <p:cNvSpPr txBox="1"/>
          <p:nvPr/>
        </p:nvSpPr>
        <p:spPr>
          <a:xfrm>
            <a:off x="2744448" y="1367522"/>
            <a:ext cx="1332877"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Metrics</a:t>
            </a:r>
          </a:p>
          <a:p>
            <a:r>
              <a:rPr lang="en-US" sz="2600" dirty="0"/>
              <a:t>Agent</a:t>
            </a:r>
          </a:p>
        </p:txBody>
      </p:sp>
      <p:sp>
        <p:nvSpPr>
          <p:cNvPr id="8" name="TextBox 7">
            <a:extLst>
              <a:ext uri="{FF2B5EF4-FFF2-40B4-BE49-F238E27FC236}">
                <a16:creationId xmlns:a16="http://schemas.microsoft.com/office/drawing/2014/main" id="{AEFE3ABD-31FE-49AA-BE53-0E9F3D2E85AD}"/>
              </a:ext>
            </a:extLst>
          </p:cNvPr>
          <p:cNvSpPr txBox="1"/>
          <p:nvPr/>
        </p:nvSpPr>
        <p:spPr>
          <a:xfrm>
            <a:off x="5217825" y="1367522"/>
            <a:ext cx="1123014"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Insight</a:t>
            </a:r>
          </a:p>
          <a:p>
            <a:r>
              <a:rPr lang="en-US" sz="2600" dirty="0"/>
              <a:t>Agent</a:t>
            </a:r>
          </a:p>
        </p:txBody>
      </p:sp>
      <p:sp>
        <p:nvSpPr>
          <p:cNvPr id="10" name="TextBox 9">
            <a:extLst>
              <a:ext uri="{FF2B5EF4-FFF2-40B4-BE49-F238E27FC236}">
                <a16:creationId xmlns:a16="http://schemas.microsoft.com/office/drawing/2014/main" id="{5A4AA939-A374-715C-DC26-F5DDFFA2AA84}"/>
              </a:ext>
            </a:extLst>
          </p:cNvPr>
          <p:cNvSpPr txBox="1"/>
          <p:nvPr/>
        </p:nvSpPr>
        <p:spPr>
          <a:xfrm>
            <a:off x="7481338" y="1367522"/>
            <a:ext cx="1332877"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Output</a:t>
            </a:r>
          </a:p>
          <a:p>
            <a:r>
              <a:rPr lang="en-US" sz="2600" dirty="0"/>
              <a:t>Agent</a:t>
            </a:r>
          </a:p>
        </p:txBody>
      </p:sp>
      <p:sp>
        <p:nvSpPr>
          <p:cNvPr id="11" name="Arrow: Right 10">
            <a:extLst>
              <a:ext uri="{FF2B5EF4-FFF2-40B4-BE49-F238E27FC236}">
                <a16:creationId xmlns:a16="http://schemas.microsoft.com/office/drawing/2014/main" id="{6E37285B-FE1D-1A38-595E-CF46528F35AB}"/>
              </a:ext>
            </a:extLst>
          </p:cNvPr>
          <p:cNvSpPr/>
          <p:nvPr/>
        </p:nvSpPr>
        <p:spPr>
          <a:xfrm>
            <a:off x="1926860" y="1627407"/>
            <a:ext cx="494675" cy="347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9460D0E8-5E5A-3D27-C845-4C8E8AC82894}"/>
              </a:ext>
            </a:extLst>
          </p:cNvPr>
          <p:cNvSpPr/>
          <p:nvPr/>
        </p:nvSpPr>
        <p:spPr>
          <a:xfrm>
            <a:off x="4400237" y="1627407"/>
            <a:ext cx="494675" cy="347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891A7842-D89C-2810-022E-4FC9CAD26946}"/>
              </a:ext>
            </a:extLst>
          </p:cNvPr>
          <p:cNvSpPr/>
          <p:nvPr/>
        </p:nvSpPr>
        <p:spPr>
          <a:xfrm>
            <a:off x="6663751" y="1627407"/>
            <a:ext cx="494675" cy="347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D182EF8B-E24B-E61D-2CE9-79AFD34AFA42}"/>
              </a:ext>
            </a:extLst>
          </p:cNvPr>
          <p:cNvSpPr txBox="1">
            <a:spLocks/>
          </p:cNvSpPr>
          <p:nvPr/>
        </p:nvSpPr>
        <p:spPr>
          <a:xfrm>
            <a:off x="6340839" y="2422258"/>
            <a:ext cx="548265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AutoNum type="arabicPeriod" startAt="2"/>
            </a:pPr>
            <a:r>
              <a:rPr lang="en-US" b="1" dirty="0"/>
              <a:t>Technology Used</a:t>
            </a:r>
          </a:p>
          <a:p>
            <a:r>
              <a:rPr lang="en-US" dirty="0"/>
              <a:t>Python, Pandas</a:t>
            </a:r>
          </a:p>
          <a:p>
            <a:r>
              <a:rPr lang="en-US" dirty="0"/>
              <a:t>LangGraph (agent orchestration)</a:t>
            </a:r>
          </a:p>
          <a:p>
            <a:r>
              <a:rPr lang="en-US" dirty="0"/>
              <a:t>Matplotlib (graphs)</a:t>
            </a:r>
          </a:p>
          <a:p>
            <a:r>
              <a:rPr lang="en-US" dirty="0"/>
              <a:t>Streamlit (dashboard)</a:t>
            </a:r>
          </a:p>
        </p:txBody>
      </p:sp>
    </p:spTree>
    <p:extLst>
      <p:ext uri="{BB962C8B-B14F-4D97-AF65-F5344CB8AC3E}">
        <p14:creationId xmlns:p14="http://schemas.microsoft.com/office/powerpoint/2010/main" val="313510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B5325-AA1B-594F-9DC9-AE43A3952009}"/>
              </a:ext>
            </a:extLst>
          </p:cNvPr>
          <p:cNvSpPr>
            <a:spLocks noGrp="1"/>
          </p:cNvSpPr>
          <p:nvPr>
            <p:ph type="title"/>
          </p:nvPr>
        </p:nvSpPr>
        <p:spPr/>
        <p:txBody>
          <a:bodyPr/>
          <a:lstStyle/>
          <a:p>
            <a:r>
              <a:rPr lang="en-US" b="1" dirty="0"/>
              <a:t>Input and Output </a:t>
            </a:r>
          </a:p>
        </p:txBody>
      </p:sp>
      <p:sp>
        <p:nvSpPr>
          <p:cNvPr id="3" name="Content Placeholder 2">
            <a:extLst>
              <a:ext uri="{FF2B5EF4-FFF2-40B4-BE49-F238E27FC236}">
                <a16:creationId xmlns:a16="http://schemas.microsoft.com/office/drawing/2014/main" id="{63CF63B0-D01E-096B-7DB6-A4200036B7AD}"/>
              </a:ext>
            </a:extLst>
          </p:cNvPr>
          <p:cNvSpPr>
            <a:spLocks noGrp="1"/>
          </p:cNvSpPr>
          <p:nvPr>
            <p:ph idx="1"/>
          </p:nvPr>
        </p:nvSpPr>
        <p:spPr/>
        <p:txBody>
          <a:bodyPr numCol="2"/>
          <a:lstStyle/>
          <a:p>
            <a:pPr marL="0" indent="0">
              <a:buNone/>
            </a:pPr>
            <a:r>
              <a:rPr lang="en-US" b="1" dirty="0"/>
              <a:t>Input</a:t>
            </a:r>
          </a:p>
          <a:p>
            <a:r>
              <a:rPr lang="en-US" dirty="0"/>
              <a:t>Excel file contains:</a:t>
            </a:r>
          </a:p>
          <a:p>
            <a:pPr marL="514350" indent="-514350">
              <a:buFont typeface="+mj-lt"/>
              <a:buAutoNum type="arabicPeriod"/>
            </a:pPr>
            <a:r>
              <a:rPr lang="en-US" dirty="0"/>
              <a:t>Month-wise traffic data.</a:t>
            </a:r>
          </a:p>
          <a:p>
            <a:pPr marL="514350" indent="-514350">
              <a:buFont typeface="+mj-lt"/>
              <a:buAutoNum type="arabicPeriod"/>
            </a:pPr>
            <a:r>
              <a:rPr lang="en-US" dirty="0"/>
              <a:t>Multiple tables</a:t>
            </a:r>
          </a:p>
          <a:p>
            <a:pPr marL="514350" indent="-514350">
              <a:buFont typeface="+mj-lt"/>
              <a:buAutoNum type="arabicPeriod"/>
            </a:pPr>
            <a:r>
              <a:rPr lang="en-US" dirty="0"/>
              <a:t>Year-wise values (2023, 2024, 2025)</a:t>
            </a:r>
          </a:p>
          <a:p>
            <a:pPr marL="514350" indent="-514350">
              <a:buFont typeface="+mj-lt"/>
              <a:buAutoNum type="arabicPeriod"/>
            </a:pPr>
            <a:endParaRPr lang="en-US" dirty="0"/>
          </a:p>
          <a:p>
            <a:pPr marL="0" indent="0">
              <a:buNone/>
            </a:pPr>
            <a:endParaRPr lang="en-US" dirty="0"/>
          </a:p>
          <a:p>
            <a:pPr marL="0" indent="0">
              <a:buNone/>
            </a:pPr>
            <a:r>
              <a:rPr lang="en-US" b="1" dirty="0"/>
              <a:t>Output</a:t>
            </a:r>
          </a:p>
          <a:p>
            <a:r>
              <a:rPr lang="en-US" dirty="0"/>
              <a:t>Excel Report</a:t>
            </a:r>
          </a:p>
          <a:p>
            <a:pPr marL="514350" indent="-514350">
              <a:buFont typeface="+mj-lt"/>
              <a:buAutoNum type="arabicPeriod"/>
            </a:pPr>
            <a:r>
              <a:rPr lang="en-US" dirty="0"/>
              <a:t>KPI Summary</a:t>
            </a:r>
          </a:p>
          <a:p>
            <a:pPr marL="514350" indent="-514350">
              <a:buFont typeface="+mj-lt"/>
              <a:buAutoNum type="arabicPeriod"/>
            </a:pPr>
            <a:r>
              <a:rPr lang="en-US" dirty="0"/>
              <a:t>Month-wise tables</a:t>
            </a:r>
          </a:p>
          <a:p>
            <a:pPr marL="514350" indent="-514350">
              <a:buFont typeface="+mj-lt"/>
              <a:buAutoNum type="arabicPeriod"/>
            </a:pPr>
            <a:r>
              <a:rPr lang="en-US" dirty="0"/>
              <a:t>Embedded graphs</a:t>
            </a:r>
          </a:p>
          <a:p>
            <a:pPr marL="514350" indent="-514350">
              <a:buFont typeface="+mj-lt"/>
              <a:buAutoNum type="arabicPeriod"/>
            </a:pPr>
            <a:r>
              <a:rPr lang="en-US" dirty="0"/>
              <a:t>Management-level insights</a:t>
            </a:r>
          </a:p>
          <a:p>
            <a:r>
              <a:rPr lang="en-US" dirty="0"/>
              <a:t>Interactive Dashboards</a:t>
            </a:r>
          </a:p>
        </p:txBody>
      </p:sp>
    </p:spTree>
    <p:extLst>
      <p:ext uri="{BB962C8B-B14F-4D97-AF65-F5344CB8AC3E}">
        <p14:creationId xmlns:p14="http://schemas.microsoft.com/office/powerpoint/2010/main" val="6984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8730-2677-DF1D-A252-5BAC8237060F}"/>
              </a:ext>
            </a:extLst>
          </p:cNvPr>
          <p:cNvSpPr>
            <a:spLocks noGrp="1"/>
          </p:cNvSpPr>
          <p:nvPr>
            <p:ph type="title"/>
          </p:nvPr>
        </p:nvSpPr>
        <p:spPr/>
        <p:txBody>
          <a:bodyPr/>
          <a:lstStyle/>
          <a:p>
            <a:r>
              <a:rPr lang="en-US" b="1" dirty="0"/>
              <a:t>Graphs and Insights</a:t>
            </a:r>
          </a:p>
        </p:txBody>
      </p:sp>
      <p:sp>
        <p:nvSpPr>
          <p:cNvPr id="3" name="Content Placeholder 2">
            <a:extLst>
              <a:ext uri="{FF2B5EF4-FFF2-40B4-BE49-F238E27FC236}">
                <a16:creationId xmlns:a16="http://schemas.microsoft.com/office/drawing/2014/main" id="{51309AFB-72B2-8689-3DA1-83D96FDBCC76}"/>
              </a:ext>
            </a:extLst>
          </p:cNvPr>
          <p:cNvSpPr>
            <a:spLocks noGrp="1"/>
          </p:cNvSpPr>
          <p:nvPr>
            <p:ph idx="1"/>
          </p:nvPr>
        </p:nvSpPr>
        <p:spPr>
          <a:xfrm>
            <a:off x="316705" y="1789907"/>
            <a:ext cx="5487649" cy="4351338"/>
          </a:xfrm>
        </p:spPr>
        <p:txBody>
          <a:bodyPr/>
          <a:lstStyle/>
          <a:p>
            <a:r>
              <a:rPr lang="en-US" dirty="0"/>
              <a:t>Graph 1: Traffic_Visit_Sessions</a:t>
            </a:r>
          </a:p>
          <a:p>
            <a:endParaRPr lang="en-US" dirty="0"/>
          </a:p>
          <a:p>
            <a:endParaRPr lang="en-US" dirty="0"/>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8AF13FD4-D26C-32AE-FDF7-511E528EA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339" y="2386828"/>
            <a:ext cx="5434015" cy="3442472"/>
          </a:xfrm>
          <a:prstGeom prst="rect">
            <a:avLst/>
          </a:prstGeom>
        </p:spPr>
      </p:pic>
      <p:sp>
        <p:nvSpPr>
          <p:cNvPr id="6" name="Content Placeholder 2">
            <a:extLst>
              <a:ext uri="{FF2B5EF4-FFF2-40B4-BE49-F238E27FC236}">
                <a16:creationId xmlns:a16="http://schemas.microsoft.com/office/drawing/2014/main" id="{FC6FB1BB-2C64-3D07-E216-CBAB506B3053}"/>
              </a:ext>
            </a:extLst>
          </p:cNvPr>
          <p:cNvSpPr txBox="1">
            <a:spLocks/>
          </p:cNvSpPr>
          <p:nvPr/>
        </p:nvSpPr>
        <p:spPr>
          <a:xfrm>
            <a:off x="5857988" y="1392237"/>
            <a:ext cx="6334012" cy="51006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5900" dirty="0"/>
          </a:p>
          <a:p>
            <a:pPr>
              <a:spcAft>
                <a:spcPts val="1000"/>
              </a:spcAft>
            </a:pPr>
            <a:r>
              <a:rPr lang="en-US" sz="5900" dirty="0"/>
              <a:t>Insight of Traffic_Visit_Sessions</a:t>
            </a:r>
          </a:p>
          <a:p>
            <a:pPr marL="0" indent="0">
              <a:lnSpc>
                <a:spcPct val="120000"/>
              </a:lnSpc>
              <a:spcBef>
                <a:spcPts val="0"/>
              </a:spcBef>
              <a:buNone/>
            </a:pPr>
            <a:r>
              <a:rPr lang="en-US" dirty="0"/>
              <a:t>### Overall Performance Insight</a:t>
            </a:r>
          </a:p>
          <a:p>
            <a:pPr marL="0" indent="0">
              <a:lnSpc>
                <a:spcPct val="120000"/>
              </a:lnSpc>
              <a:spcBef>
                <a:spcPts val="0"/>
              </a:spcBef>
              <a:buNone/>
            </a:pPr>
            <a:r>
              <a:rPr lang="en-US" dirty="0"/>
              <a:t>The overall traffic performance shows a **decline trend in 2024 compared to 2023**, with a **Year-over-Year change of -7.31%**.</a:t>
            </a:r>
          </a:p>
          <a:p>
            <a:pPr marL="0" indent="0">
              <a:lnSpc>
                <a:spcPct val="120000"/>
              </a:lnSpc>
              <a:spcBef>
                <a:spcPts val="0"/>
              </a:spcBef>
              <a:buNone/>
            </a:pPr>
            <a:r>
              <a:rPr lang="en-US" dirty="0"/>
              <a:t>This indicates that the platform has experienced a contraction in overall traffic levels over the year. The data suggests that performance shifts are not isolated to a single month but reflect a **broader annual movement**.</a:t>
            </a:r>
          </a:p>
          <a:p>
            <a:pPr marL="0" indent="0">
              <a:lnSpc>
                <a:spcPct val="120000"/>
              </a:lnSpc>
              <a:spcBef>
                <a:spcPts val="0"/>
              </a:spcBef>
              <a:buNone/>
            </a:pPr>
            <a:r>
              <a:rPr lang="en-US" dirty="0"/>
              <a:t>Month-over-Month variations observed throughout the year represent short-term fluctuations; however, the **primary business signal remains the overall yearly direction**, which should be the key focus for strategic decision-making.</a:t>
            </a:r>
          </a:p>
          <a:p>
            <a:pPr marL="0" indent="0">
              <a:lnSpc>
                <a:spcPct val="120000"/>
              </a:lnSpc>
              <a:spcBef>
                <a:spcPts val="0"/>
              </a:spcBef>
              <a:buNone/>
            </a:pPr>
            <a:endParaRPr lang="en-US" dirty="0"/>
          </a:p>
          <a:p>
            <a:pPr marL="0" indent="0">
              <a:lnSpc>
                <a:spcPct val="120000"/>
              </a:lnSpc>
              <a:spcBef>
                <a:spcPts val="0"/>
              </a:spcBef>
              <a:buNone/>
            </a:pPr>
            <a:r>
              <a:rPr lang="en-US" dirty="0"/>
              <a:t>### Management Perspective</a:t>
            </a:r>
          </a:p>
          <a:p>
            <a:pPr marL="0" indent="0">
              <a:lnSpc>
                <a:spcPct val="120000"/>
              </a:lnSpc>
              <a:spcBef>
                <a:spcPts val="0"/>
              </a:spcBef>
              <a:buNone/>
            </a:pPr>
            <a:r>
              <a:rPr lang="en-US" dirty="0"/>
              <a:t>- The current trend highlights the effectiveness of existing traffic acquisition and engagement strategies at an annual level.</a:t>
            </a:r>
          </a:p>
          <a:p>
            <a:pPr marL="0" indent="0">
              <a:lnSpc>
                <a:spcPct val="120000"/>
              </a:lnSpc>
              <a:spcBef>
                <a:spcPts val="0"/>
              </a:spcBef>
              <a:buNone/>
            </a:pPr>
            <a:r>
              <a:rPr lang="en-US" dirty="0"/>
              <a:t>- Sustaining and improving this trajectory will require reinforcing high-performing channels and addressing areas contributing to weaker periods.</a:t>
            </a:r>
          </a:p>
          <a:p>
            <a:pPr marL="0" indent="0">
              <a:lnSpc>
                <a:spcPct val="120000"/>
              </a:lnSpc>
              <a:spcBef>
                <a:spcPts val="0"/>
              </a:spcBef>
              <a:buNone/>
            </a:pPr>
            <a:r>
              <a:rPr lang="en-US" dirty="0"/>
              <a:t>- Continued monitoring of overall growth patterns is recommended to ensure long-term stability and scalability.</a:t>
            </a:r>
          </a:p>
          <a:p>
            <a:pPr marL="0" indent="0">
              <a:lnSpc>
                <a:spcPct val="120000"/>
              </a:lnSpc>
              <a:buNone/>
            </a:pPr>
            <a:endParaRPr lang="en-US" dirty="0"/>
          </a:p>
          <a:p>
            <a:pPr marL="0" indent="0">
              <a:buNone/>
            </a:pPr>
            <a:endParaRPr lang="en-US" dirty="0"/>
          </a:p>
          <a:p>
            <a:pPr marL="0" indent="0">
              <a:buNone/>
            </a:pPr>
            <a:endParaRPr lang="en-US" dirty="0"/>
          </a:p>
          <a:p>
            <a:endParaRPr lang="en-US" dirty="0"/>
          </a:p>
          <a:p>
            <a:endParaRPr lang="en-US" dirty="0"/>
          </a:p>
          <a:p>
            <a:endParaRPr lang="en-US" dirty="0"/>
          </a:p>
          <a:p>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286871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50FCD-B66A-77A6-95B5-C10D889BB8B8}"/>
              </a:ext>
            </a:extLst>
          </p:cNvPr>
          <p:cNvSpPr>
            <a:spLocks noGrp="1"/>
          </p:cNvSpPr>
          <p:nvPr>
            <p:ph type="title"/>
          </p:nvPr>
        </p:nvSpPr>
        <p:spPr/>
        <p:txBody>
          <a:bodyPr/>
          <a:lstStyle/>
          <a:p>
            <a:r>
              <a:rPr lang="en-US" b="1" dirty="0"/>
              <a:t>Challenges</a:t>
            </a:r>
          </a:p>
        </p:txBody>
      </p:sp>
      <p:sp>
        <p:nvSpPr>
          <p:cNvPr id="3" name="Content Placeholder 2">
            <a:extLst>
              <a:ext uri="{FF2B5EF4-FFF2-40B4-BE49-F238E27FC236}">
                <a16:creationId xmlns:a16="http://schemas.microsoft.com/office/drawing/2014/main" id="{091F9267-7B7D-5F57-6A78-CF2C28270A8B}"/>
              </a:ext>
            </a:extLst>
          </p:cNvPr>
          <p:cNvSpPr>
            <a:spLocks noGrp="1"/>
          </p:cNvSpPr>
          <p:nvPr>
            <p:ph idx="1"/>
          </p:nvPr>
        </p:nvSpPr>
        <p:spPr/>
        <p:txBody>
          <a:bodyPr/>
          <a:lstStyle/>
          <a:p>
            <a:pPr marL="514350" indent="-514350">
              <a:buFont typeface="+mj-lt"/>
              <a:buAutoNum type="arabicPeriod"/>
            </a:pPr>
            <a:r>
              <a:rPr lang="en-US" dirty="0"/>
              <a:t>GA4 API Access</a:t>
            </a:r>
          </a:p>
          <a:p>
            <a:r>
              <a:rPr lang="en-US" dirty="0"/>
              <a:t>No direct GA4 API access available</a:t>
            </a:r>
          </a:p>
          <a:p>
            <a:r>
              <a:rPr lang="en-US" dirty="0"/>
              <a:t>Real-time data could not be fetched</a:t>
            </a:r>
          </a:p>
          <a:p>
            <a:pPr marL="0" indent="0">
              <a:buNone/>
            </a:pPr>
            <a:r>
              <a:rPr lang="en-US" dirty="0"/>
              <a:t>2. Data consistency across multiple tables</a:t>
            </a:r>
          </a:p>
        </p:txBody>
      </p:sp>
    </p:spTree>
    <p:extLst>
      <p:ext uri="{BB962C8B-B14F-4D97-AF65-F5344CB8AC3E}">
        <p14:creationId xmlns:p14="http://schemas.microsoft.com/office/powerpoint/2010/main" val="2005550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2C41-B156-848A-6418-63EF183E99BA}"/>
              </a:ext>
            </a:extLst>
          </p:cNvPr>
          <p:cNvSpPr>
            <a:spLocks noGrp="1"/>
          </p:cNvSpPr>
          <p:nvPr>
            <p:ph type="title"/>
          </p:nvPr>
        </p:nvSpPr>
        <p:spPr/>
        <p:txBody>
          <a:bodyPr/>
          <a:lstStyle/>
          <a:p>
            <a:r>
              <a:rPr lang="en-US" b="1" dirty="0"/>
              <a:t>Future Enhancement</a:t>
            </a:r>
          </a:p>
        </p:txBody>
      </p:sp>
      <p:sp>
        <p:nvSpPr>
          <p:cNvPr id="3" name="Content Placeholder 2">
            <a:extLst>
              <a:ext uri="{FF2B5EF4-FFF2-40B4-BE49-F238E27FC236}">
                <a16:creationId xmlns:a16="http://schemas.microsoft.com/office/drawing/2014/main" id="{2F166AF5-C318-BECA-175C-BD1E8DB6192D}"/>
              </a:ext>
            </a:extLst>
          </p:cNvPr>
          <p:cNvSpPr>
            <a:spLocks noGrp="1"/>
          </p:cNvSpPr>
          <p:nvPr>
            <p:ph idx="1"/>
          </p:nvPr>
        </p:nvSpPr>
        <p:spPr/>
        <p:txBody>
          <a:bodyPr/>
          <a:lstStyle/>
          <a:p>
            <a:r>
              <a:rPr lang="en-US" dirty="0"/>
              <a:t>GA4 API integration for real-time data.</a:t>
            </a:r>
          </a:p>
          <a:p>
            <a:r>
              <a:rPr lang="en-US" dirty="0"/>
              <a:t>Channel-wise insights (Organic, Direct, Referral)</a:t>
            </a:r>
          </a:p>
          <a:p>
            <a:r>
              <a:rPr lang="en-US" dirty="0"/>
              <a:t>Automated PDF report generation</a:t>
            </a:r>
          </a:p>
        </p:txBody>
      </p:sp>
    </p:spTree>
    <p:extLst>
      <p:ext uri="{BB962C8B-B14F-4D97-AF65-F5344CB8AC3E}">
        <p14:creationId xmlns:p14="http://schemas.microsoft.com/office/powerpoint/2010/main" val="3610115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E0111-657A-68A4-D33A-18CCA723FA62}"/>
              </a:ext>
            </a:extLst>
          </p:cNvPr>
          <p:cNvSpPr txBox="1">
            <a:spLocks/>
          </p:cNvSpPr>
          <p:nvPr/>
        </p:nvSpPr>
        <p:spPr>
          <a:xfrm>
            <a:off x="838200" y="2766218"/>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THANK YOU</a:t>
            </a:r>
          </a:p>
        </p:txBody>
      </p:sp>
    </p:spTree>
    <p:extLst>
      <p:ext uri="{BB962C8B-B14F-4D97-AF65-F5344CB8AC3E}">
        <p14:creationId xmlns:p14="http://schemas.microsoft.com/office/powerpoint/2010/main" val="2834879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471</Words>
  <Application>Microsoft Office PowerPoint</Application>
  <PresentationFormat>Widescreen</PresentationFormat>
  <Paragraphs>80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Traffic Status and Insights</vt:lpstr>
      <vt:lpstr>Problem Statement</vt:lpstr>
      <vt:lpstr>Proposed Solutions</vt:lpstr>
      <vt:lpstr>System Architecture</vt:lpstr>
      <vt:lpstr>Input and Output </vt:lpstr>
      <vt:lpstr>Graphs and Insights</vt:lpstr>
      <vt:lpstr>Challenges</vt:lpstr>
      <vt:lpstr>Future Enhancement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Kumar</dc:creator>
  <cp:lastModifiedBy>Abhishek Kumar</cp:lastModifiedBy>
  <cp:revision>1</cp:revision>
  <dcterms:created xsi:type="dcterms:W3CDTF">2026-01-03T23:55:29Z</dcterms:created>
  <dcterms:modified xsi:type="dcterms:W3CDTF">2026-01-03T23:56:27Z</dcterms:modified>
</cp:coreProperties>
</file>